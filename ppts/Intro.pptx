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68" r:id="rId3"/>
    <p:sldId id="269" r:id="rId4"/>
    <p:sldId id="257" r:id="rId5"/>
    <p:sldId id="263" r:id="rId6"/>
    <p:sldId id="264" r:id="rId7"/>
    <p:sldId id="271" r:id="rId8"/>
    <p:sldId id="258" r:id="rId9"/>
    <p:sldId id="265" r:id="rId10"/>
    <p:sldId id="270" r:id="rId11"/>
    <p:sldId id="262" r:id="rId12"/>
    <p:sldId id="261" r:id="rId13"/>
    <p:sldId id="267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58"/>
  </p:normalViewPr>
  <p:slideViewPr>
    <p:cSldViewPr snapToGrid="0">
      <p:cViewPr varScale="1">
        <p:scale>
          <a:sx n="116" d="100"/>
          <a:sy n="116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71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32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468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020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104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771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0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07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76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9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7/19/25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84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7/19/25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06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7" r:id="rId6"/>
    <p:sldLayoutId id="2147483702" r:id="rId7"/>
    <p:sldLayoutId id="2147483703" r:id="rId8"/>
    <p:sldLayoutId id="2147483704" r:id="rId9"/>
    <p:sldLayoutId id="2147483706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sn.com/en-us/money/news/jim-cramer-on-what-2025-could-hold-for-nvidia/vi-AA1x8vkR?ocid=msedgntp&amp;pc=U531&amp;cvid=b860b4a64cae47c6a6f3cee65615ab9e&amp;ei=32#detail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develop.io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eb of dots connected">
            <a:extLst>
              <a:ext uri="{FF2B5EF4-FFF2-40B4-BE49-F238E27FC236}">
                <a16:creationId xmlns:a16="http://schemas.microsoft.com/office/drawing/2014/main" id="{F9E269A0-8DE8-EC4C-0D59-15BB1B4F49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77" t="909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94A66-8513-2887-8DFD-2AE171107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Game Design from the Ground 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8589D-0CC6-A0B9-BF91-0F393B8B6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Professors james &amp; </a:t>
            </a:r>
            <a:r>
              <a:rPr lang="en-US" dirty="0" err="1">
                <a:solidFill>
                  <a:srgbClr val="FFFFFF"/>
                </a:solidFill>
              </a:rPr>
              <a:t>luke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4319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11E8F-9741-94B7-2D8C-7D98EB97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Gaming Stats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C942B-E238-FA17-780C-266AF1935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gaming revenue in 2025 is projected to land between </a:t>
            </a:r>
            <a:r>
              <a:rPr lang="en-US" b="1" dirty="0"/>
              <a:t>$189–237 billion</a:t>
            </a:r>
            <a:r>
              <a:rPr lang="en-US" dirty="0"/>
              <a:t>, depending on whether hardware and subscriptions are included. The core themes:</a:t>
            </a:r>
          </a:p>
          <a:p>
            <a:r>
              <a:rPr lang="en-US" b="1" dirty="0"/>
              <a:t>Mobile continues to dominate</a:t>
            </a:r>
            <a:r>
              <a:rPr lang="en-US" dirty="0"/>
              <a:t>, with over half the market focused there.</a:t>
            </a:r>
          </a:p>
          <a:p>
            <a:r>
              <a:rPr lang="en-US" b="1" dirty="0"/>
              <a:t>Digital transactions</a:t>
            </a:r>
            <a:r>
              <a:rPr lang="en-US" dirty="0"/>
              <a:t> have eclipsed physical sales entirely.</a:t>
            </a:r>
          </a:p>
          <a:p>
            <a:r>
              <a:rPr lang="en-US" b="1" dirty="0"/>
              <a:t>Growth is moderate</a:t>
            </a:r>
            <a:r>
              <a:rPr lang="en-US" dirty="0"/>
              <a:t>—around 3–5%, driven by mobile and notable premium console releases.</a:t>
            </a:r>
          </a:p>
          <a:p>
            <a:r>
              <a:rPr lang="en-US" b="1" dirty="0"/>
              <a:t>Challenges ahead</a:t>
            </a:r>
            <a:r>
              <a:rPr lang="en-US" dirty="0"/>
              <a:t> include delayed blockbusters, elevated costs, and saturated mobile markets—but upcoming titles and hardware may provide recovery boosts.</a:t>
            </a:r>
          </a:p>
        </p:txBody>
      </p:sp>
    </p:spTree>
    <p:extLst>
      <p:ext uri="{BB962C8B-B14F-4D97-AF65-F5344CB8AC3E}">
        <p14:creationId xmlns:p14="http://schemas.microsoft.com/office/powerpoint/2010/main" val="292669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BDC38-F320-4CC9-4493-B62BC27E1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C28B-FA71-BDE4-625D-5E7AB4C5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Gaming Stats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FD527-778D-D1AA-B836-3BDAD15FB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Revenue Models &amp; Monetization</a:t>
            </a:r>
          </a:p>
          <a:p>
            <a:r>
              <a:rPr lang="en-US" b="1" dirty="0"/>
              <a:t>Digital vs. Physical</a:t>
            </a:r>
            <a:r>
              <a:rPr lang="en-US" dirty="0"/>
              <a:t>: ~95% of game sales are now digital.</a:t>
            </a:r>
          </a:p>
          <a:p>
            <a:r>
              <a:rPr lang="en-US" b="1" dirty="0"/>
              <a:t>In-app spend</a:t>
            </a:r>
            <a:r>
              <a:rPr lang="en-US" dirty="0"/>
              <a:t> surged in regions like Japan, where in March 2025, iOS/Android combined spending totaled $6.79 B, with Japan accounting for 14.3%.</a:t>
            </a:r>
          </a:p>
          <a:p>
            <a:r>
              <a:rPr lang="en-US" b="1" dirty="0"/>
              <a:t>Advertising</a:t>
            </a:r>
            <a:r>
              <a:rPr lang="en-US" dirty="0"/>
              <a:t>: U.S. gaming ad revenue is projected to grow to </a:t>
            </a:r>
            <a:r>
              <a:rPr lang="en-US" b="1" dirty="0"/>
              <a:t>$8.6 B</a:t>
            </a:r>
            <a:r>
              <a:rPr lang="en-US" dirty="0"/>
              <a:t> (+5.7% in 2025), though it remains under-indexed compared to overall digital ad growth.</a:t>
            </a:r>
          </a:p>
          <a:p>
            <a:r>
              <a:rPr lang="en-US" b="1" dirty="0"/>
              <a:t>Subscriptions &amp; cloud</a:t>
            </a:r>
            <a:r>
              <a:rPr lang="en-US" dirty="0"/>
              <a:t>: Fast-growing but smaller compared to software and mobile—these diversified streams are stabilizing industry income.</a:t>
            </a:r>
          </a:p>
        </p:txBody>
      </p:sp>
    </p:spTree>
    <p:extLst>
      <p:ext uri="{BB962C8B-B14F-4D97-AF65-F5344CB8AC3E}">
        <p14:creationId xmlns:p14="http://schemas.microsoft.com/office/powerpoint/2010/main" val="1756141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47" name="Rectangle 1046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BF9EE-3122-BE8D-7D3A-1879CDC2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4144369" cy="3227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skills</a:t>
            </a:r>
          </a:p>
        </p:txBody>
      </p:sp>
      <p:pic>
        <p:nvPicPr>
          <p:cNvPr id="6" name="Picture 5" descr="A black and white logo with a cat&#10;&#10;AI-generated content may be incorrect.">
            <a:extLst>
              <a:ext uri="{FF2B5EF4-FFF2-40B4-BE49-F238E27FC236}">
                <a16:creationId xmlns:a16="http://schemas.microsoft.com/office/drawing/2014/main" id="{29D292A6-8D47-FA1D-F2ED-F7E0C7A1F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102" y="4349722"/>
            <a:ext cx="1474905" cy="1564683"/>
          </a:xfrm>
          <a:prstGeom prst="rect">
            <a:avLst/>
          </a:prstGeom>
        </p:spPr>
      </p:pic>
      <p:pic>
        <p:nvPicPr>
          <p:cNvPr id="1036" name="Picture 12" descr="TMS WEB Core VSC Framework for creating ...">
            <a:extLst>
              <a:ext uri="{FF2B5EF4-FFF2-40B4-BE49-F238E27FC236}">
                <a16:creationId xmlns:a16="http://schemas.microsoft.com/office/drawing/2014/main" id="{A678265D-FA22-33C5-3C99-E40FB3131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31621" y="2631784"/>
            <a:ext cx="2088932" cy="156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F59ECFE2-89B7-8D5B-8E42-53A0766A5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5178" y="974199"/>
            <a:ext cx="2175375" cy="1504883"/>
          </a:xfrm>
          <a:prstGeom prst="rect">
            <a:avLst/>
          </a:prstGeom>
        </p:spPr>
      </p:pic>
      <p:pic>
        <p:nvPicPr>
          <p:cNvPr id="1034" name="Picture 10" descr="Can HTML, CSS and JavaScript create a ...">
            <a:extLst>
              <a:ext uri="{FF2B5EF4-FFF2-40B4-BE49-F238E27FC236}">
                <a16:creationId xmlns:a16="http://schemas.microsoft.com/office/drawing/2014/main" id="{3684EAC3-70B1-AD8F-A72A-BC2CD8FC7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81881" y="4370070"/>
            <a:ext cx="2755954" cy="1523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The AI technology landscape explained ...">
            <a:extLst>
              <a:ext uri="{FF2B5EF4-FFF2-40B4-BE49-F238E27FC236}">
                <a16:creationId xmlns:a16="http://schemas.microsoft.com/office/drawing/2014/main" id="{1CC44824-02E0-EFF1-4AE1-FDCC22997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81881" y="2689576"/>
            <a:ext cx="2755954" cy="144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close-up of a logo&#10;&#10;AI-generated content may be incorrect.">
            <a:extLst>
              <a:ext uri="{FF2B5EF4-FFF2-40B4-BE49-F238E27FC236}">
                <a16:creationId xmlns:a16="http://schemas.microsoft.com/office/drawing/2014/main" id="{A095CDB8-699B-F94A-0E32-B67D689E8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1881" y="1248900"/>
            <a:ext cx="2755954" cy="895684"/>
          </a:xfrm>
          <a:prstGeom prst="rect">
            <a:avLst/>
          </a:prstGeom>
        </p:spPr>
      </p:pic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B6B45062-2913-169D-B43B-29A292EB0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15369" y="5914405"/>
            <a:ext cx="4069080" cy="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84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5" name="Picture 4" descr="Pieces on carrom board">
            <a:extLst>
              <a:ext uri="{FF2B5EF4-FFF2-40B4-BE49-F238E27FC236}">
                <a16:creationId xmlns:a16="http://schemas.microsoft.com/office/drawing/2014/main" id="{8A51B834-D91F-1ACD-0AAC-5686712B1D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5DEC45B-BA77-21C0-3869-05DE7C923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705856"/>
            <a:ext cx="12192001" cy="115214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4180C-F43E-4DBC-A357-0FE4C38C1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5" y="5863030"/>
            <a:ext cx="7955280" cy="8700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Game Design!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0A4642-D29D-0121-4C05-5A5559BC5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-560574" y="6281928"/>
            <a:ext cx="115214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0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4EEC-85E5-39E9-6129-018CFB17B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D8D24-A876-4FB0-4C35-9131B1EDA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Difficulty levels</a:t>
            </a:r>
          </a:p>
          <a:p>
            <a:r>
              <a:rPr lang="en-US" dirty="0"/>
              <a:t>Health</a:t>
            </a:r>
          </a:p>
          <a:p>
            <a:r>
              <a:rPr lang="en-US" dirty="0"/>
              <a:t>Treasure (XPs)</a:t>
            </a:r>
          </a:p>
          <a:p>
            <a:r>
              <a:rPr lang="en-US" dirty="0">
                <a:highlight>
                  <a:srgbClr val="FFFF00"/>
                </a:highlight>
              </a:rPr>
              <a:t>Game Levels/Scenes</a:t>
            </a:r>
          </a:p>
          <a:p>
            <a:r>
              <a:rPr lang="en-US" dirty="0"/>
              <a:t>Consider a </a:t>
            </a:r>
            <a:r>
              <a:rPr lang="en-US" dirty="0" err="1"/>
              <a:t>LeaderBoard</a:t>
            </a:r>
            <a:r>
              <a:rPr lang="en-US" dirty="0"/>
              <a:t>!</a:t>
            </a:r>
          </a:p>
          <a:p>
            <a:r>
              <a:rPr lang="en-US" dirty="0"/>
              <a:t>Use of platforms vs board style games</a:t>
            </a:r>
          </a:p>
          <a:p>
            <a:r>
              <a:rPr lang="en-US" dirty="0"/>
              <a:t>Designing for </a:t>
            </a:r>
            <a:r>
              <a:rPr lang="en-US" dirty="0">
                <a:hlinkClick r:id="rId2"/>
              </a:rPr>
              <a:t>Consoles</a:t>
            </a:r>
            <a:r>
              <a:rPr lang="en-US" dirty="0"/>
              <a:t> vs. PCs vs. Mobile vs. the Web!</a:t>
            </a:r>
          </a:p>
        </p:txBody>
      </p:sp>
    </p:spTree>
    <p:extLst>
      <p:ext uri="{BB962C8B-B14F-4D97-AF65-F5344CB8AC3E}">
        <p14:creationId xmlns:p14="http://schemas.microsoft.com/office/powerpoint/2010/main" val="225995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EB48A-B441-79AF-46ED-6E7D4C617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FA8A-8C0A-5347-E823-654F33ED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Design </a:t>
            </a:r>
            <a:r>
              <a:rPr lang="en-US" dirty="0" err="1"/>
              <a:t>con’t</a:t>
            </a:r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F4F78-2AF1-743A-5BF7-979D5D062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Design Tip:</a:t>
            </a:r>
            <a:endParaRPr lang="en-US" dirty="0"/>
          </a:p>
          <a:p>
            <a:r>
              <a:rPr lang="en-US" b="1" dirty="0"/>
              <a:t>Start simple</a:t>
            </a:r>
            <a:r>
              <a:rPr lang="en-US" dirty="0"/>
              <a:t> → </a:t>
            </a:r>
            <a:r>
              <a:rPr lang="en-US" i="1" dirty="0"/>
              <a:t>"Can you explain your game’s logic in 3 sentences?"</a:t>
            </a:r>
            <a:endParaRPr lang="en-US" dirty="0"/>
          </a:p>
          <a:p>
            <a:r>
              <a:rPr lang="en-US" b="1" dirty="0"/>
              <a:t>Tools:</a:t>
            </a:r>
            <a:r>
              <a:rPr lang="en-US" dirty="0"/>
              <a:t> </a:t>
            </a:r>
            <a:r>
              <a:rPr lang="en-US" i="1" dirty="0"/>
              <a:t>Flowcharts (</a:t>
            </a:r>
            <a:r>
              <a:rPr lang="en-US" i="1" dirty="0" err="1"/>
              <a:t>draw.io</a:t>
            </a:r>
            <a:r>
              <a:rPr lang="en-US" i="1" dirty="0"/>
              <a:t>) or pseudocode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0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92FE0-88F3-24A5-CFDC-7DB46861E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Assets/Elements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D4218-C29B-0F18-F06F-47B19AFC9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Visual Assets:</a:t>
            </a:r>
            <a:r>
              <a:rPr lang="en-US" dirty="0"/>
              <a:t> Sprites, 2D/3D models, textures, animations, UI icons.</a:t>
            </a:r>
          </a:p>
          <a:p>
            <a:r>
              <a:rPr lang="en-US" b="1" dirty="0"/>
              <a:t>Audio Assets:</a:t>
            </a:r>
            <a:r>
              <a:rPr lang="en-US" dirty="0"/>
              <a:t> Sound effects, background music, voice lines.</a:t>
            </a:r>
          </a:p>
          <a:p>
            <a:r>
              <a:rPr lang="en-US" b="1" dirty="0"/>
              <a:t>Data Assets:</a:t>
            </a:r>
            <a:r>
              <a:rPr lang="en-US" dirty="0"/>
              <a:t> Scripts, configuration files (JSON/XML), level designs.</a:t>
            </a:r>
          </a:p>
          <a:p>
            <a:r>
              <a:rPr lang="en-US" b="1" dirty="0"/>
              <a:t>Text Assets:</a:t>
            </a:r>
            <a:r>
              <a:rPr lang="en-US" dirty="0"/>
              <a:t> Dialogue, item descriptions, localization files.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00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FF643-80D7-3D0F-31BD-C8BE6C8C2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1A25F-2CC5-E850-F266-B6DF04C85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Develop a “catchy” title.  (Aligns to your actual game)</a:t>
            </a:r>
          </a:p>
          <a:p>
            <a:r>
              <a:rPr lang="en-US" dirty="0"/>
              <a:t>Make game fun &amp; challenging!</a:t>
            </a:r>
          </a:p>
          <a:p>
            <a:pPr algn="l">
              <a:lnSpc>
                <a:spcPts val="2143"/>
              </a:lnSpc>
              <a:spcBef>
                <a:spcPts val="1372"/>
              </a:spcBef>
              <a:spcAft>
                <a:spcPts val="1029"/>
              </a:spcAft>
              <a:buNone/>
            </a:pPr>
            <a:r>
              <a:rPr lang="en-US" dirty="0">
                <a:highlight>
                  <a:srgbClr val="FFFF00"/>
                </a:highlight>
              </a:rPr>
              <a:t>Common Game Logic Patterns:</a:t>
            </a: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dirty="0"/>
              <a:t>State Machines (🔄): Character states: idle → run → jump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dirty="0"/>
              <a:t>Event Systems (🎯): "When ‘key collected’, unlock door."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dirty="0"/>
              <a:t>Physics Simulation (🌍): Gravity, friction, collisions</a:t>
            </a: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dirty="0"/>
              <a:t>Activity:</a:t>
            </a:r>
            <a:br>
              <a:rPr lang="en-US" dirty="0"/>
            </a:br>
            <a:r>
              <a:rPr lang="en-US" dirty="0"/>
              <a:t>"Design rules for a ‘tag’ game: How does ‘it’ get passed?"</a:t>
            </a:r>
          </a:p>
          <a:p>
            <a:pPr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https://gdevelop.io/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25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 tmFilter="0,0; .5, 1; 1, 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73742-E1C4-420E-50C0-0A35FA71D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32B13-A8F2-C522-9D32-8D5A5F0F0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logic </a:t>
            </a:r>
            <a:r>
              <a:rPr lang="en-US" dirty="0" err="1"/>
              <a:t>con’t</a:t>
            </a:r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13E28-BDDB-9932-704A-17F3053D0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468881"/>
            <a:ext cx="10890928" cy="3566160"/>
          </a:xfrm>
        </p:spPr>
        <p:txBody>
          <a:bodyPr>
            <a:no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Define Core Rules</a:t>
            </a:r>
            <a:r>
              <a:rPr lang="en-US" dirty="0">
                <a:highlight>
                  <a:srgbClr val="FFFF00"/>
                </a:highlight>
              </a:rPr>
              <a:t> </a:t>
            </a:r>
            <a:r>
              <a:rPr lang="en-US" dirty="0"/>
              <a:t>⚖️</a:t>
            </a:r>
          </a:p>
          <a:p>
            <a:pPr lvl="1"/>
            <a:r>
              <a:rPr lang="en-US" sz="2000" i="1" dirty="0"/>
              <a:t>"What can/can’t the player do? (e.g., ‘Jump but not fly’)"</a:t>
            </a:r>
            <a:endParaRPr lang="en-US" sz="2000" dirty="0"/>
          </a:p>
          <a:p>
            <a:pPr lvl="1"/>
            <a:r>
              <a:rPr lang="en-US" sz="2000" dirty="0"/>
              <a:t>Example: </a:t>
            </a:r>
            <a:r>
              <a:rPr lang="en-US" sz="2000" i="1" dirty="0"/>
              <a:t>Mario</a:t>
            </a:r>
            <a:r>
              <a:rPr lang="en-US" sz="2000" dirty="0"/>
              <a:t>: Run + jump, but no shooting.</a:t>
            </a:r>
          </a:p>
          <a:p>
            <a:r>
              <a:rPr lang="en-US" b="1" dirty="0"/>
              <a:t>Conditional Actions</a:t>
            </a:r>
            <a:r>
              <a:rPr lang="en-US" dirty="0"/>
              <a:t> 🔀</a:t>
            </a:r>
          </a:p>
          <a:p>
            <a:pPr lvl="1"/>
            <a:r>
              <a:rPr lang="en-US" sz="2000" i="1" dirty="0"/>
              <a:t>"If X, then Y"</a:t>
            </a:r>
            <a:r>
              <a:rPr lang="en-US" sz="2000" dirty="0"/>
              <a:t> (e.g., </a:t>
            </a:r>
            <a:r>
              <a:rPr lang="en-US" sz="2000" i="1" dirty="0"/>
              <a:t>"If player hits enemy → enemy loses health"</a:t>
            </a:r>
            <a:r>
              <a:rPr lang="en-US" sz="2000" dirty="0"/>
              <a:t>).</a:t>
            </a:r>
          </a:p>
          <a:p>
            <a:r>
              <a:rPr lang="en-US" b="1" dirty="0"/>
              <a:t>Feedback Loops</a:t>
            </a:r>
            <a:r>
              <a:rPr lang="en-US" dirty="0"/>
              <a:t> 🔄</a:t>
            </a:r>
          </a:p>
          <a:p>
            <a:pPr lvl="1"/>
            <a:r>
              <a:rPr lang="en-US" sz="2000" i="1" dirty="0"/>
              <a:t>Rewards → Encourages behavior</a:t>
            </a:r>
            <a:r>
              <a:rPr lang="en-US" sz="2000" dirty="0"/>
              <a:t> (e.g., </a:t>
            </a:r>
            <a:r>
              <a:rPr lang="en-US" sz="2000" i="1" dirty="0"/>
              <a:t>collect coins → get power-ups</a:t>
            </a:r>
            <a:r>
              <a:rPr lang="en-US" sz="2000" dirty="0"/>
              <a:t>).</a:t>
            </a:r>
          </a:p>
          <a:p>
            <a:r>
              <a:rPr lang="en-US" b="1" dirty="0"/>
              <a:t>Win/Loss States</a:t>
            </a:r>
            <a:r>
              <a:rPr lang="en-US" dirty="0"/>
              <a:t> 🏆💀</a:t>
            </a:r>
          </a:p>
          <a:p>
            <a:pPr lvl="1"/>
            <a:r>
              <a:rPr lang="en-US" sz="2000" i="1" dirty="0"/>
              <a:t>Clear goals</a:t>
            </a:r>
            <a:r>
              <a:rPr lang="en-US" sz="2000" dirty="0"/>
              <a:t> (e.g., </a:t>
            </a:r>
            <a:r>
              <a:rPr lang="en-US" sz="2000" i="1" dirty="0"/>
              <a:t>reach flag = win, fall in pit = lose</a:t>
            </a:r>
            <a:r>
              <a:rPr lang="en-US" sz="2000" dirty="0"/>
              <a:t>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152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B8EF1-64C0-026E-3534-11EA3EB40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BD0F-DF80-B963-3F08-D89EDAFC9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Establish roles</a:t>
            </a:r>
          </a:p>
          <a:p>
            <a:r>
              <a:rPr lang="en-US" dirty="0"/>
              <a:t>Making your own characters</a:t>
            </a:r>
          </a:p>
          <a:p>
            <a:r>
              <a:rPr lang="en-US" dirty="0"/>
              <a:t>-Character movements = character behaviors</a:t>
            </a:r>
          </a:p>
        </p:txBody>
      </p:sp>
    </p:spTree>
    <p:extLst>
      <p:ext uri="{BB962C8B-B14F-4D97-AF65-F5344CB8AC3E}">
        <p14:creationId xmlns:p14="http://schemas.microsoft.com/office/powerpoint/2010/main" val="3338237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47CFA-2417-FD2D-86FC-D4BDF4F2E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9FD77-1D6C-DC70-EF5B-7BE623299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your Target market: All ages, young/old, logic lovers, strategists? </a:t>
            </a:r>
          </a:p>
          <a:p>
            <a:r>
              <a:rPr lang="en-US" dirty="0"/>
              <a:t>Suggestions?</a:t>
            </a:r>
          </a:p>
        </p:txBody>
      </p:sp>
    </p:spTree>
    <p:extLst>
      <p:ext uri="{BB962C8B-B14F-4D97-AF65-F5344CB8AC3E}">
        <p14:creationId xmlns:p14="http://schemas.microsoft.com/office/powerpoint/2010/main" val="2105466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8512-C0D3-9C6B-5420-4C9BA354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on!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321C3-6354-9874-BFC3-0D4E23E51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Establish roles</a:t>
            </a:r>
          </a:p>
          <a:p>
            <a:r>
              <a:rPr lang="en-US" dirty="0"/>
              <a:t>Working with Teams</a:t>
            </a:r>
          </a:p>
        </p:txBody>
      </p:sp>
    </p:spTree>
    <p:extLst>
      <p:ext uri="{BB962C8B-B14F-4D97-AF65-F5344CB8AC3E}">
        <p14:creationId xmlns:p14="http://schemas.microsoft.com/office/powerpoint/2010/main" val="3913354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8ECD6-99B9-4477-1775-F35D836A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61E08-5BF8-B94D-8B87-BDB624BD9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DAY 1</a:t>
            </a:r>
          </a:p>
          <a:p>
            <a:r>
              <a:rPr lang="en-US" dirty="0"/>
              <a:t>Getting to know one another</a:t>
            </a:r>
          </a:p>
          <a:p>
            <a:r>
              <a:rPr lang="en-US" dirty="0"/>
              <a:t>Learning to work with Visual Studio Code</a:t>
            </a:r>
          </a:p>
          <a:p>
            <a:r>
              <a:rPr lang="en-US" dirty="0"/>
              <a:t>Learn basic code routines -&gt; HTML/CSS/</a:t>
            </a:r>
            <a:r>
              <a:rPr lang="en-US" b="1" dirty="0"/>
              <a:t>JavaScript</a:t>
            </a:r>
            <a:r>
              <a:rPr lang="en-US" b="1"/>
              <a:t>, Python</a:t>
            </a:r>
            <a:endParaRPr lang="en-US" b="1" dirty="0"/>
          </a:p>
          <a:p>
            <a:r>
              <a:rPr lang="en-US" dirty="0"/>
              <a:t>Working Gaming Demos!</a:t>
            </a:r>
          </a:p>
        </p:txBody>
      </p:sp>
    </p:spTree>
    <p:extLst>
      <p:ext uri="{BB962C8B-B14F-4D97-AF65-F5344CB8AC3E}">
        <p14:creationId xmlns:p14="http://schemas.microsoft.com/office/powerpoint/2010/main" val="287280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608</Words>
  <Application>Microsoft Macintosh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Avenir Next LT Pro</vt:lpstr>
      <vt:lpstr>Grandview Display</vt:lpstr>
      <vt:lpstr>DashVTI</vt:lpstr>
      <vt:lpstr>Game Design from the Ground Up</vt:lpstr>
      <vt:lpstr>Gaming Stats</vt:lpstr>
      <vt:lpstr>Gaming Stats</vt:lpstr>
      <vt:lpstr>skills</vt:lpstr>
      <vt:lpstr>Game Design!</vt:lpstr>
      <vt:lpstr>Game Design</vt:lpstr>
      <vt:lpstr>Game Design con’t.</vt:lpstr>
      <vt:lpstr>Game Assets/Elements</vt:lpstr>
      <vt:lpstr>Game logic</vt:lpstr>
      <vt:lpstr>Game logic con’t.</vt:lpstr>
      <vt:lpstr>Character building</vt:lpstr>
      <vt:lpstr>Ideations</vt:lpstr>
      <vt:lpstr>Group on! </vt:lpstr>
      <vt:lpstr>Agendas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papademas</dc:creator>
  <cp:lastModifiedBy>james papademas</cp:lastModifiedBy>
  <cp:revision>38</cp:revision>
  <dcterms:created xsi:type="dcterms:W3CDTF">2025-07-19T03:29:21Z</dcterms:created>
  <dcterms:modified xsi:type="dcterms:W3CDTF">2025-07-19T19:32:48Z</dcterms:modified>
</cp:coreProperties>
</file>